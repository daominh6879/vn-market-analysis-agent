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82296" cy="4114800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Hệ thống phân tích chứng khoán Việt Nam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D0E8"/>
                </a:solidFill>
                <a:latin typeface="Calibri"/>
              </a:rPr>
              <a:t>Kiến trúc RAG + Agent · LangGraph · Tools · Router · RAG-Fusion (RRF)</a:t>
            </a:r>
          </a:p>
          <a:p>
            <a:r>
              <a:t>Báo cáo cuối kỳ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Tổng quan kiến trúc — 3 tầng xử lý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Stack công nghệ &amp; mô hình (LLM / Embedding)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Nguồn dữ liệu &amp; lưu trữ (Postgres, MinIO, Qdrant)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Dagster — pipeline điều phối dữ liệu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Router — phân loại &amp; điều hướng câu hỏi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Tool Layer — hợp đồng ToolResult + registry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LangGraph — luồng agent (graph trạng thái)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RAG-Fusion + Reciprocal Rank Fusion (RRF)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Eval — đánh giá offline (ngoài luồng chính)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62626"/>
                </a:solidFill>
                <a:latin typeface="Calibri"/>
              </a:rPr>
              <a:t>▪ Kết luận — 3 quyết định thiết kế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Tổng quan luồng — 3 tầng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0E8"/>
                </a:solidFill>
                <a:latin typeface="Calibri"/>
              </a:rPr>
              <a:t>LangGraph là tầng giữa — nơi điều phối toàn bộ trạng thái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234440"/>
            <a:ext cx="9418320" cy="1143000"/>
          </a:xfrm>
          <a:prstGeom prst="roundRect">
            <a:avLst/>
          </a:prstGeom>
          <a:solidFill>
            <a:srgbClr val="FDEAE2"/>
          </a:solidFill>
          <a:ln w="15875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TẦNG 1 — conversation_router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LLM-on-top · 1 lần gọi LLM · ép chọn tool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needs_agent_run / direct_reply / out_of_scope / decompose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880360"/>
            <a:ext cx="9418320" cy="114300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TẦNG 2 — agents/graph.py  (LANGGRAPH — trọng tâm)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classify → clarify → decompose/fast-path → run_subqueries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→ synthesize → critique → finalize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526280"/>
            <a:ext cx="9418320" cy="1143000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TẦNG 3 — intent modules (gather_data / run) → tools/*</a:t>
            </a:r>
          </a:p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Lấy dữ liệu thực: giá · chỉ báo · định giá · tin · vĩ mô · RAG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377440"/>
            <a:ext cx="0" cy="502920"/>
          </a:xfrm>
          <a:prstGeom prst="line">
            <a:avLst/>
          </a:prstGeom>
          <a:ln w="25400">
            <a:solidFill>
              <a:srgbClr val="0E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4023360"/>
            <a:ext cx="0" cy="502920"/>
          </a:xfrm>
          <a:prstGeom prst="line">
            <a:avLst/>
          </a:prstGeom>
          <a:ln w="25400">
            <a:solidFill>
              <a:srgbClr val="0E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822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user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report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Stack công nghệ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Công nghệ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DeepSeek (default) · Anthropic · OpenAI · Ollama · Gemini — qua factory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Qdrant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Relational DB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Postgres (financial_facts, stock_prices, news_articles, …)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Object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MinIO (PDF BCTC)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Dagster (schedules + sensor)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RAG / Agent 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bge-m3 (BCTC) · nomic-embed-text (news)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Reranker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CrossEncoder (ms-marco-MiniLM-L-6-v2)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Eval (offline)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RAGAS + golden YAML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Web / MCP /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Tavily · FastMCP · vnstock · VCI · SSI iBoard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62626"/>
                          </a:solidFill>
                          <a:latin typeface="Calibri"/>
                        </a:rPr>
                        <a:t>Langfuse (tracing)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Nguồn dữ liệu &amp; nơi lưu trữ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420624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Nguồn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Lưu ở đâu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Tag context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PDF BCTC (HPG, VCB…)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Báo cáo tài chính kiểm toán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Qdrant bctc_structural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RAG corpus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CafeF / VnExpress RSS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Tin tài chính, thép, TTCK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news_articles + Qdrant news_chunks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TIN TỨC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vnstock Finance API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KQKD, CDKT, LCTT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financial_facts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GIÁ LỊCH SỬ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vnstock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Giá đóng cửa điều chỉnh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stock_prices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GIÁ LỊCH SỬ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LLM extract PDF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Số liệu tài chính (fallback)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financial_facts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GIÁ LỊCH SỬ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Tavily web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Kết quả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Không 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VCI price board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OHLCV + khối ngoại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ohlcv_daily / foreign_flows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SSI iBoard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VN-Index/HNX/UPCOM/VN30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market_index_daily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yfinance / CoinGecko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World, commodities, crypto, FX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Không lưu (real-time)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CafeF events + broker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Sự kiện quyền, nhận định CTCK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Postgres corporate_events / broker_views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LLM Factory &amp; mô hình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0E8"/>
                </a:solidFill>
                <a:latin typeface="Calibri"/>
              </a:rPr>
              <a:t>Luôn dùng create_client() — không import provider trực tiếp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864"/>
                </a:solidFill>
                <a:latin typeface="Calibri"/>
              </a:rPr>
              <a:t>▪ create_client() đọc LLM_PROVIDER từ .env → trả đúng LLMClient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Provider: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deepseek (default) → OpenAIClient → deepseek-chat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anthropic → claude-opus-5   ·   openai → gpt-4o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ollama → llama3 (local)   ·   gemini → gemini-2.0-flash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Embedding (RAG): bge-m3 dim=1024 (bctc_structural) · nomic-embed-text dim=768 (news_chunks)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Reranker: CrossEncoder ms-marco-MiniLM-L-6-v2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Langfuse: tự bọc tracing khi có LANGFUSE_PUBLIC_KEY + SECRET_KEY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Postgres — schema quan trọng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67512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Cột chính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Unique key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financial_facts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period, report_type, metric_code, value, unit, source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(ticker, period, report_type, metric_code)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stock_prices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ngay, close_adj,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(ticker, ngay)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news_articles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url, title, body, source, published_at, tickers[]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(url)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ohlcv_daily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date, open/high/low/close,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(ticker, 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foreign_flows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date, buy/sell/net_value, market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(ticker, date)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market_index_daily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index_code, date, close, change_pct, foreign_net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(index_code, 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corporate_events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ex_date, event_type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(ticker, ex_date, event_type)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broker_views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ticker_or_index, published_date, headline, target_price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securities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ticker, exchange, name_aliases, tags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  <a:latin typeface="Calibri"/>
                        </a:rPr>
                        <a:t>(ticker)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MinIO — Object Storage (PDF)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Lưu trữ file PDF BCTC gốc (HPG, VCB…) — object storage S3-compatible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  <a:latin typeface="Calibri"/>
              </a:rPr>
              <a:t>▪ Sensor: minio_new_pdf_sensor phát hiện PDF mới / sửa / xóa mỗi 5 phút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▪ Flow ingestion: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1106424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>
                <a:solidFill>
                  <a:srgbClr val="D7DCE8"/>
                </a:solidFill>
                <a:latin typeface="Consolas"/>
              </a:rPr>
              <a:t>raw_pdf → parsed_doc → embeddings      → Qdrant bctc_structural (structural chunking)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                       → financial_facts  → Postgres (source='pdf')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Qdrant — collection &amp;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0E8"/>
                </a:solidFill>
                <a:latin typeface="Calibri"/>
              </a:rPr>
              <a:t>Production dùng structural; fixed_512 chỉ là baseline so sánh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329184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Collection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Dữ liệu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Chunking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Embed 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Dùng ở đâu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bctc_structural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BCTC (mọi ticker)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structural — tách theo heading MD, max 800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bge-m3 (1024)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Production · RAG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news_chunks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Tin tức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1 bài = 1 chunk (title + body)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nomic-embed-text (768)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Production · 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hpg_fixed_512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BCTC HPG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fixed 512 · overlap 64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Baseline (Bài 7)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hpg_structural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BCTC HPG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structural · không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Baseline (Bài 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hpg_b7_structural_meta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BCTC HPG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structural + metadata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  <a:latin typeface="Calibri"/>
                        </a:rPr>
                        <a:t>Eval (Bài 14)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▪ bctc_structural: 1 collection chung mọi ticker — cách ly bằng payload filter ticker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▪ Hybrid retrieval: BM25 (underthesea VN tokenize) + vector → RRF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▪ Cross-collection fusion an toàn: RRF dùng rank, không cộng score (dim 768 vs 1024 khác nhau)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Dagster — điều phối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4023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>
                <a:solidFill>
                  <a:srgbClr val="D7DCE8"/>
                </a:solidFill>
                <a:latin typeface="Consolas"/>
              </a:rPr>
              <a:t>Group: ingestion    raw_pdf → parsed_doc → embeddings → Qdrant + facts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Group: news          (mỗi 6h) news_raw → news_indexed → Qdrant news_chunks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Group: vnstock       financials (mùng 1) · prices (18:00 weekdays)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Group: market_data   index / ohlcv / global_quotes (18:00 weekdays)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Group: market_brief  07:00 events · 07:15 daily_brief · 17:30 foreign_flows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Schedules:  05:30 news · 01:00 vnstock_financials · 18:00 prices/ohlcv</a:t>
            </a:r>
          </a:p>
          <a:p>
            <a:r>
              <a:rPr sz="1400">
                <a:solidFill>
                  <a:srgbClr val="D7DCE8"/>
                </a:solidFill>
                <a:latin typeface="Consolas"/>
              </a:rPr>
              <a:t>            07:15 daily_brief · 17:30 foreign_flows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▪ Sensor minio_new_pdf_sensor chạy mỗi 5 phút phát hiện PDF mới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Router — phân loại &amp; điều hướng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566160" cy="731520"/>
          </a:xfrm>
          <a:prstGeom prst="roundRect">
            <a:avLst/>
          </a:prstGeom>
          <a:solidFill>
            <a:srgbClr val="FDEAE2"/>
          </a:solidFill>
          <a:ln w="15875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câu hỏi → classify (LLM)</a:t>
            </a:r>
          </a:p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→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651760" cy="914400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số_liệu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→ SQL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651760"/>
            <a:ext cx="2651760" cy="914400"/>
          </a:xfrm>
          <a:prstGeom prst="roundRect">
            <a:avLst/>
          </a:prstGeom>
          <a:solidFill>
            <a:srgbClr val="D5EFD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diễn_giải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→ hybrid_rerank →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51760"/>
            <a:ext cx="2651760" cy="91440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cả_hai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→ SQL + RAG → combine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2651760"/>
            <a:ext cx="2103120" cy="914400"/>
          </a:xfrm>
          <a:prstGeom prst="roundRect">
            <a:avLst/>
          </a:prstGeom>
          <a:solidFill>
            <a:srgbClr val="FADBD8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ngoài_phạm_vi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→ từ chối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2743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financial_facts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stock_prices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97680"/>
            <a:ext cx="2743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RAG corpus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(bctc_structural)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297680"/>
            <a:ext cx="2743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LLM combine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cả hai nguồn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1874519"/>
            <a:ext cx="0" cy="777241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783080" y="1874519"/>
            <a:ext cx="1325880" cy="777241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892040" y="1874519"/>
            <a:ext cx="1234440" cy="777241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1874519"/>
            <a:ext cx="1874520" cy="777241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126480" y="1874519"/>
            <a:ext cx="4617720" cy="777241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83080" y="3566160"/>
            <a:ext cx="0" cy="73152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3566160"/>
            <a:ext cx="0" cy="73152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01000" y="3566160"/>
            <a:ext cx="0" cy="73152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5486400"/>
            <a:ext cx="11247120" cy="822960"/>
          </a:xfrm>
          <a:prstGeom prst="roundRect">
            <a:avLst/>
          </a:prstGeom>
          <a:solidFill>
            <a:srgbClr val="FDEAE2"/>
          </a:solidFill>
          <a:ln w="15875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conversation_router (Tầng 1): ép chọn tool — needs_agent_run / direct_reply / out_of_scope / decompose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Tool Layer — hợp đồng ToolResult +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300">
                <a:solidFill>
                  <a:srgbClr val="D7DCE8"/>
                </a:solidFill>
                <a:latin typeface="Consolas"/>
              </a:rPr>
              <a:t>ToolResult(status, data, message)</a:t>
            </a:r>
          </a:p>
          <a:p>
            <a:r>
              <a:rPr sz="1300">
                <a:solidFill>
                  <a:srgbClr val="D7DCE8"/>
                </a:solidFill>
                <a:latin typeface="Consolas"/>
              </a:rPr>
              <a:t>   status ∈ { ok, no_data, invalid_input, upstream_error, rate_limited }</a:t>
            </a:r>
          </a:p>
          <a:p>
            <a:r>
              <a:rPr sz="1300">
                <a:solidFill>
                  <a:srgbClr val="D7DCE8"/>
                </a:solidFill>
                <a:latin typeface="Consolas"/>
              </a:rPr>
              <a:t>   → không raise · không trả list rỗng trần → _safe_gather chỉ cần try/except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▪ TOOL_REGISTRY: version, timeout, cost_hint, side_effect cho mọi tool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▪ Cache tool-level in-memory TTL (instrument_tool): side_effect / free / zero-arg / error → không cache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▪ PriceProvider (ABC) + fallback chuỗi: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cổ phiếu VN: Fireant → VCI → TCBS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chỉ số VN: SsiIndexProvider · mã ngoại: YFinanceProvider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▪ Intent module tách 2 hàm: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gather_data — thuần Python, trả text (graph dùng) · không LLM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run — có LLM (market-brief pattern: Python tính số → LLM viết slot → Python lắp MD)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LangGraph — luồng agent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0E8"/>
                </a:solidFill>
                <a:latin typeface="Calibri"/>
              </a:rPr>
              <a:t>Mọi vòng lặp có trần · điều hướng là if/else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097280"/>
            <a:ext cx="2377440" cy="566928"/>
          </a:xfrm>
          <a:prstGeom prst="roundRect">
            <a:avLst/>
          </a:prstGeom>
          <a:solidFill>
            <a:srgbClr val="FDEAE2"/>
          </a:solidFill>
          <a:ln w="15875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262626"/>
                </a:solidFill>
                <a:latin typeface="Calibri"/>
              </a:rPr>
              <a:t>classify_node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965960"/>
            <a:ext cx="2377440" cy="566928"/>
          </a:xfrm>
          <a:prstGeom prst="roundRect">
            <a:avLst/>
          </a:prstGeom>
          <a:solidFill>
            <a:srgbClr val="FDEAE2"/>
          </a:solidFill>
          <a:ln w="15875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clarify_node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interrupt()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834640"/>
            <a:ext cx="2377440" cy="566928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decompose_node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n=4 sub-task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703320"/>
            <a:ext cx="2377440" cy="566928"/>
          </a:xfrm>
          <a:prstGeom prst="roundRect">
            <a:avLst/>
          </a:prstGeom>
          <a:solidFill>
            <a:srgbClr val="D5EFD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run_subqueries_node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gather_data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572000"/>
            <a:ext cx="2377440" cy="566928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synthesize_final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LLM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440680"/>
            <a:ext cx="2377440" cy="566928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critique_report_node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LLM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6309360"/>
            <a:ext cx="2377440" cy="457200"/>
          </a:xfrm>
          <a:prstGeom prst="roundRect">
            <a:avLst/>
          </a:prstGeom>
          <a:solidFill>
            <a:srgbClr val="D5EFD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finalize_node →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965960"/>
            <a:ext cx="2560320" cy="566928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node_market_brief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graph con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834640"/>
            <a:ext cx="2560320" cy="566928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build_single_subtask_node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fast-path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703320"/>
            <a:ext cx="2560320" cy="566928"/>
          </a:xfrm>
          <a:prstGeom prst="roundRect">
            <a:avLst/>
          </a:prstGeom>
          <a:solidFill>
            <a:srgbClr val="FADBD8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node_out_of_scope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câu cố định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166420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17520" y="253288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17520" y="340156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427024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17520" y="513892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17520" y="6007608"/>
            <a:ext cx="0" cy="30175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2249424"/>
            <a:ext cx="16459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26280" y="192024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market_brief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06240" y="2249424"/>
            <a:ext cx="1645920" cy="86868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80560" y="2514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simple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06240" y="2249424"/>
            <a:ext cx="1645920" cy="173736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80560" y="3063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Calibri"/>
              </a:rPr>
              <a:t>out_of_scope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206240" y="3118104"/>
            <a:ext cx="2926080" cy="86868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206240" y="3986784"/>
            <a:ext cx="292608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4206240" y="2532888"/>
            <a:ext cx="2926080" cy="3776472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1417320" y="3118104"/>
            <a:ext cx="411480" cy="868680"/>
          </a:xfrm>
          <a:prstGeom prst="line">
            <a:avLst/>
          </a:prstGeom>
          <a:ln w="19050">
            <a:solidFill>
              <a:srgbClr val="C0392B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37160" y="338328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replan ≤1</a:t>
            </a:r>
          </a:p>
          <a:p>
            <a:r>
              <a:t>empty&gt;50%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206240" y="4855464"/>
            <a:ext cx="0" cy="868680"/>
          </a:xfrm>
          <a:prstGeom prst="line">
            <a:avLst/>
          </a:prstGeom>
          <a:ln w="19050">
            <a:solidFill>
              <a:srgbClr val="C0392B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97680" y="5074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C0392B"/>
                </a:solidFill>
                <a:latin typeface="Calibri"/>
              </a:rPr>
              <a:t>retry ≤ MAX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5029200"/>
            <a:ext cx="30175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color = vai trò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orange = route/LLM-on-top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blue = dữ liệu/truy hồi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green = thuần logic (no LLM)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gold = sinh nội dung (LLM)</a:t>
            </a:r>
          </a:p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red = từ chối / loop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RAG-Fusion + Reciprocal Rank Fusion (RRF)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103120" cy="1188720"/>
          </a:xfrm>
          <a:prstGeom prst="roundRect">
            <a:avLst/>
          </a:prstGeom>
          <a:solidFill>
            <a:srgbClr val="D4EAF8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decompose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LLM sinh N sub-query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(N=4)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286000"/>
            <a:ext cx="2286000" cy="1188720"/>
          </a:xfrm>
          <a:prstGeom prst="roundRect">
            <a:avLst/>
          </a:prstGeom>
          <a:solidFill>
            <a:srgbClr val="D5EFD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multi_retrieve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BM25+vector + news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+ Postgres + Tavily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2286000"/>
            <a:ext cx="2194560" cy="118872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rrf_fuse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RRF fold mọi list</a:t>
            </a:r>
          </a:p>
          <a:p>
            <a:pPr algn="ctr"/>
            <a:r>
              <a:rPr sz="1200" b="0">
                <a:solidFill>
                  <a:srgbClr val="262626"/>
                </a:solidFill>
                <a:latin typeface="Calibri"/>
              </a:rPr>
              <a:t>→ top-K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286000"/>
            <a:ext cx="2011680" cy="1188720"/>
          </a:xfrm>
          <a:prstGeom prst="roundRect">
            <a:avLst/>
          </a:prstGeom>
          <a:solidFill>
            <a:srgbClr val="FDEBD0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analyze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LLM · guard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không mua/bán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286000"/>
            <a:ext cx="1737360" cy="1188720"/>
          </a:xfrm>
          <a:prstGeom prst="roundRect">
            <a:avLst/>
          </a:prstGeom>
          <a:solidFill>
            <a:srgbClr val="D5EFD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report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format +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trích nguồn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880360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2880360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89520" y="2880360"/>
            <a:ext cx="27432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2880360"/>
            <a:ext cx="182880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8404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62626"/>
                </a:solidFill>
                <a:latin typeface="Calibri"/>
              </a:rPr>
              <a:t>▪ Hai cấp độ fusion: (1) BM25+vector cho 1 query · (2) N result list cho N sub-query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▪ analyze gắn tag nguồn: [BCTC] · [TIN TỨC] · [WEB chưa kiểm chứng] · [GIÁ LỊCH SỬ]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RRF — công thức, lý do, ví dụ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▪ score(doc) = Σ 1/(k + rank_i)  ·  k = 60 (Cormack 2009)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▪ rank_i = vị trí (1-based) của doc trong danh sách truy hồi thứ 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8503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32918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Tài liệu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rank trong q₁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rank trong q₂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Điểm RRF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doc 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1/61 + 1/62 = 0.0325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doc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1/63 + 1/61 = 0.0323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doc C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1/61 = 0.0164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F3864"/>
                </a:solidFill>
                <a:latin typeface="Calibri"/>
              </a:rPr>
              <a:t>▪ Tại sao bỏ score, chỉ dùng rank?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BM25 (unbounded, phụ thuộc corpus) + cosine (0–1) không cộng trực tiếp được — BM25 luôn áp đảo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rank là đại lượng cộng được xuyên danh sách, không cần chuẩn hoá, không cần huấn luyện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62626"/>
                </a:solidFill>
                <a:latin typeface="Calibri"/>
              </a:rPr>
              <a:t>▪ Hai vị trí áp dụng: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 — _hybrid_retrieve: BM25 + Qdrant vector → RRF → top-k (trong 1 sub-query)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2 — rrf_fuse_node: N result list của N sub-query → RRF fold → top-k (xuyên query)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Eval — đánh giá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DD0E8"/>
                </a:solidFill>
                <a:latin typeface="Calibri"/>
              </a:rPr>
              <a:t>KHÔNG nằm trong luồng trả lời — chỉ đo chất lượng truy hồi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10332720" cy="914400"/>
          </a:xfrm>
          <a:prstGeom prst="roundRect">
            <a:avLst/>
          </a:prstGeom>
          <a:solidFill>
            <a:srgbClr val="FADBD8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evals/run.py chạy riêng (offline), tách khỏi graph runtime.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Graph trả lời KHÔNG gọi eval — eval chỉ để chọn phương án truy hồi tốt nhất.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62626"/>
                </a:solidFill>
                <a:latin typeface="Calibri"/>
              </a:rPr>
              <a:t>▪ Golden YAML groups: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table_lookup / text_interpretation → RAGAS (faithfulness, relevancy, precision, recall)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no_answer / out_of_scope → refusal pass rate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news → pass/fail theo sources_used chứa TIN TỨC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▪ Retrieval methods so sánh: vector · bm25 · hybrid_weighted · hybrid_rrf · hybrid_rerank · rag_fusion · router_sql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Calibri"/>
              </a:rPr>
              <a:t>▪ Kết quả: Multi-query (N=4) + RRF → recall 0.952 (20/21) vs single 0.857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384048"/>
            <a:ext cx="54864" cy="566928"/>
          </a:xfrm>
          <a:prstGeom prst="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Kết luận — 3 quyết định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155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▪ Điều hướng bằng code thuần — routing/replan/critique là if/else; chỉ node sinh nội dung gọi LLM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Chi phí và độ trễ dự đoán được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▪ State chỉ chứa text/đường dẫn — checkpoint tuần tự hoá được, không phình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run_subqueries gather dữ liệu dạng text, không cần LLM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▪ Mọi vòng lặp có trần — replan ≤1 · critique ≤MAX · ngân sách 8 call / 180s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Turn 'bệnh hoạn' không đốt tiền vô hạn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▪ Interrupt/checkpoint + streaming là 2 điểm nối graph với người dùng &amp; SSE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